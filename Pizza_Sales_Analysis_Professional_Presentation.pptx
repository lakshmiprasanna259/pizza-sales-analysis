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109728" cy="4480560"/>
          </a:xfrm>
          <a:prstGeom prst="rect">
            <a:avLst/>
          </a:prstGeom>
          <a:solidFill>
            <a:srgbClr val="E76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23444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PIZZA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74519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ANALYSIS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788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D9E0EA"/>
                </a:solidFill>
              </a:defRPr>
            </a:pPr>
            <a:r>
              <a:t>Problem statement → KPIs → Visual analysis → Insights → Recommendations →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84048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EB9C8"/>
                </a:solidFill>
              </a:defRPr>
            </a:pPr>
            <a:r>
              <a:t>Source: 2015 pizza sales dataset + supplied SQL queries + requirement screenshots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76F2E"/>
                </a:solidFill>
              </a:defRPr>
            </a:pPr>
            <a:r>
              <a:t>Professional analytical presentation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234440"/>
            <a:ext cx="960120" cy="914400"/>
          </a:xfrm>
          <a:prstGeom prst="roundRect">
            <a:avLst/>
          </a:prstGeom>
          <a:solidFill>
            <a:srgbClr val="20304A"/>
          </a:solidFill>
          <a:ln>
            <a:solidFill>
              <a:srgbClr val="34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39912" y="138988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1">
                <a:solidFill>
                  <a:srgbClr val="AEB9C8"/>
                </a:solidFill>
              </a:defRPr>
            </a:pPr>
            <a: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9912" y="162763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817,860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234440"/>
            <a:ext cx="960120" cy="914400"/>
          </a:xfrm>
          <a:prstGeom prst="roundRect">
            <a:avLst/>
          </a:prstGeom>
          <a:solidFill>
            <a:srgbClr val="20304A"/>
          </a:solidFill>
          <a:ln>
            <a:solidFill>
              <a:srgbClr val="34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82912" y="138988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1">
                <a:solidFill>
                  <a:srgbClr val="AEB9C8"/>
                </a:solidFill>
              </a:defRPr>
            </a:pPr>
            <a:r>
              <a:t>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82912" y="162763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21,350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52760" y="1234440"/>
            <a:ext cx="960120" cy="914400"/>
          </a:xfrm>
          <a:prstGeom prst="roundRect">
            <a:avLst/>
          </a:prstGeom>
          <a:solidFill>
            <a:srgbClr val="20304A"/>
          </a:solidFill>
          <a:ln>
            <a:solidFill>
              <a:srgbClr val="34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25912" y="138988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1">
                <a:solidFill>
                  <a:srgbClr val="AEB9C8"/>
                </a:solidFill>
              </a:defRPr>
            </a:pPr>
            <a:r>
              <a:t>PIZZAS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5912" y="162763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49,574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E76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238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76F2E"/>
                </a:solidFill>
              </a:defRPr>
            </a:pPr>
            <a:r>
              <a:t>WHY THIS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67085"/>
                </a:solidFill>
              </a:defRPr>
            </a:pPr>
            <a:r>
              <a:t>PIZZA SALES ANALYSIS  •  2015</a:t>
            </a:r>
          </a:p>
          <a:p>
            <a:pPr>
              <a:defRPr sz="750">
                <a:solidFill>
                  <a:srgbClr val="667085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52238"/>
                </a:solidFill>
              </a:defRPr>
            </a:pPr>
            <a:r>
              <a:t>The project requirement is to visualize pizza sales performance and identify patterns that support business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62E"/>
                </a:solidFill>
              </a:defRPr>
            </a:pPr>
            <a:r>
              <a:t>• Measure overall business performance using five KPIs.</a:t>
            </a:r>
          </a:p>
          <a:p>
            <a:pPr>
              <a:spcAft>
                <a:spcPts val="800"/>
              </a:spcAft>
              <a:defRPr sz="1500">
                <a:solidFill>
                  <a:srgbClr val="20262E"/>
                </a:solidFill>
              </a:defRPr>
            </a:pPr>
            <a:r>
              <a:t>• Understand order trends across weekdays and months.</a:t>
            </a:r>
          </a:p>
          <a:p>
            <a:pPr>
              <a:spcAft>
                <a:spcPts val="800"/>
              </a:spcAft>
              <a:defRPr sz="1500">
                <a:solidFill>
                  <a:srgbClr val="20262E"/>
                </a:solidFill>
              </a:defRPr>
            </a:pPr>
            <a:r>
              <a:t>• Measure revenue contribution by pizza category and pizza size.</a:t>
            </a:r>
          </a:p>
          <a:p>
            <a:pPr>
              <a:spcAft>
                <a:spcPts val="800"/>
              </a:spcAft>
              <a:defRPr sz="1500">
                <a:solidFill>
                  <a:srgbClr val="20262E"/>
                </a:solidFill>
              </a:defRPr>
            </a:pPr>
            <a:r>
              <a:t>• Identify best-selling and underperforming pizzas using revenue, quantity, and orders.</a:t>
            </a:r>
          </a:p>
          <a:p>
            <a:pPr>
              <a:spcAft>
                <a:spcPts val="800"/>
              </a:spcAft>
              <a:defRPr sz="1500">
                <a:solidFill>
                  <a:srgbClr val="20262E"/>
                </a:solidFill>
              </a:defRPr>
            </a:pPr>
            <a:r>
              <a:t>• Translate the analysis into actionable business insights.</a:t>
            </a:r>
          </a:p>
        </p:txBody>
      </p:sp>
      <p:pic>
        <p:nvPicPr>
          <p:cNvPr id="9" name="Picture 8" descr="WhatsApp Image 2026-10-06 at 11.15.09 AM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188720"/>
            <a:ext cx="4160520" cy="18745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3800" y="3200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67085"/>
                </a:solidFill>
              </a:defRPr>
            </a:pPr>
            <a:r>
              <a:t>Source requirement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56616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0262E"/>
                </a:solidFill>
              </a:defRPr>
            </a:pPr>
            <a:r>
              <a:t>The screenshots supplied with the project define the required KPI and chart outputs. The analysis and deck structure below follow those requirements.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E76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238"/>
                </a:solidFill>
              </a:defRPr>
            </a:pPr>
            <a:r>
              <a:t>KPI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76F2E"/>
                </a:solidFill>
              </a:defRPr>
            </a:pPr>
            <a:r>
              <a:t>FIVE REQUIRED BUSINESS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67085"/>
                </a:solidFill>
              </a:defRPr>
            </a:pPr>
            <a:r>
              <a:t>PIZZA SALES ANALYSIS  •  2015</a:t>
            </a:r>
          </a:p>
          <a:p>
            <a:pPr>
              <a:defRPr sz="750">
                <a:solidFill>
                  <a:srgbClr val="667085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47218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76F2E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7218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238"/>
                </a:solidFill>
              </a:defRPr>
            </a:pPr>
            <a:r>
              <a:t>Total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92024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7085"/>
                </a:solidFill>
              </a:defRPr>
            </a:pPr>
            <a:r>
              <a:t>Sum of total_price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7743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52238"/>
                </a:solidFill>
              </a:defRPr>
            </a:pPr>
            <a:r>
              <a:t>817,860.05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2588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1" y="147218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76F2E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47218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238"/>
                </a:solidFill>
              </a:defRPr>
            </a:pPr>
            <a:r>
              <a:t>Average Order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192024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7085"/>
                </a:solidFill>
              </a:defRPr>
            </a:pPr>
            <a:r>
              <a:t>Total revenue ÷ distinct 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237743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52238"/>
                </a:solidFill>
              </a:defRPr>
            </a:pPr>
            <a:r>
              <a:t>38.31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32588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48471" y="147218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76F2E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47218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238"/>
                </a:solidFill>
              </a:defRPr>
            </a:pPr>
            <a:r>
              <a:t>Total Pizzas Sold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192024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7085"/>
                </a:solidFill>
              </a:defRPr>
            </a:pPr>
            <a:r>
              <a:t>Sum of quantity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37743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52238"/>
                </a:solidFill>
              </a:defRPr>
            </a:pPr>
            <a:r>
              <a:t>49,574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38328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" y="352958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76F2E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52958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238"/>
                </a:solidFill>
              </a:defRPr>
            </a:pPr>
            <a:r>
              <a:t>Total Orders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397764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7085"/>
                </a:solidFill>
              </a:defRPr>
            </a:pPr>
            <a:r>
              <a:t>Distinct order_id 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4434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52238"/>
                </a:solidFill>
              </a:defRPr>
            </a:pPr>
            <a:r>
              <a:t>21,350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38328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99431" y="352958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76F2E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52958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238"/>
                </a:solidFill>
              </a:defRPr>
            </a:pPr>
            <a:r>
              <a:t>Average Pizzas / Order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1" y="397764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7085"/>
                </a:solidFill>
              </a:defRPr>
            </a:pPr>
            <a:r>
              <a:t>Total pizzas ÷ distinct orders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1" y="4434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52238"/>
                </a:solidFill>
              </a:defRPr>
            </a:pPr>
            <a:r>
              <a:t>2.32</a:t>
            </a:r>
          </a:p>
        </p:txBody>
      </p:sp>
      <p:pic>
        <p:nvPicPr>
          <p:cNvPr id="32" name="Picture 31" descr="WhatsApp Image 2026-10-06 at 11.15.10 AM(2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3474720"/>
            <a:ext cx="3474720" cy="15636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E76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238"/>
                </a:solidFill>
              </a:defRPr>
            </a:pPr>
            <a:r>
              <a:t>Chart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76F2E"/>
                </a:solidFill>
              </a:defRPr>
            </a:pPr>
            <a:r>
              <a:t>VISUALS REQUESTED IN THE SUPPLIED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67085"/>
                </a:solidFill>
              </a:defRPr>
            </a:pPr>
            <a:r>
              <a:t>PIZZA SALES ANALYSIS  •  2015</a:t>
            </a:r>
          </a:p>
          <a:p>
            <a:pPr>
              <a:defRPr sz="750">
                <a:solidFill>
                  <a:srgbClr val="667085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76F2E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52238"/>
                </a:solidFill>
              </a:defRPr>
            </a:pPr>
            <a:r>
              <a:t>Daily trend for total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23444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0262E"/>
                </a:solidFill>
              </a:defRPr>
            </a:pPr>
            <a:r>
              <a:t>Bar chart. The supplied SQL implements this as distinct orders by day of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76F2E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52238"/>
                </a:solidFill>
              </a:defRPr>
            </a:pPr>
            <a:r>
              <a:t>Monthly trend for total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0195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0262E"/>
                </a:solidFill>
              </a:defRPr>
            </a:pPr>
            <a:r>
              <a:t>Line chart across Jan–Dec.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9464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76F2E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5694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52238"/>
                </a:solidFill>
              </a:defRPr>
            </a:pPr>
            <a:r>
              <a:t>Percentage of sales by pizza 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569464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0262E"/>
                </a:solidFill>
              </a:defRPr>
            </a:pPr>
            <a:r>
              <a:t>Pie chart using revenue share.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3697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76F2E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369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52238"/>
                </a:solidFill>
              </a:defRPr>
            </a:pPr>
            <a:r>
              <a:t>Percentage of sales by pizza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236976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0262E"/>
                </a:solidFill>
              </a:defRPr>
            </a:pPr>
            <a:r>
              <a:t>Pie chart using revenue share.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04487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76F2E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90448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52238"/>
                </a:solidFill>
              </a:defRPr>
            </a:pPr>
            <a:r>
              <a:t>Total pizzas sold by pizza 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904487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0262E"/>
                </a:solidFill>
              </a:defRPr>
            </a:pPr>
            <a:r>
              <a:t>Funnel chart.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76F2E"/>
                </a:solidFill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52238"/>
                </a:solidFill>
              </a:defRPr>
            </a:pPr>
            <a:r>
              <a:t>Top 5 best sellers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57200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0262E"/>
                </a:solidFill>
              </a:defRPr>
            </a:pPr>
            <a:r>
              <a:t>Bar charts for revenue, quantity and total orders.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39512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76F2E"/>
                </a:solidFill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2395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52238"/>
                </a:solidFill>
              </a:defRPr>
            </a:pPr>
            <a:r>
              <a:t>Bottom 5 best sellers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23951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0262E"/>
                </a:solidFill>
              </a:defRPr>
            </a:pPr>
            <a:r>
              <a:t>Bar charts for revenue, quantity and total orders.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E76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238"/>
                </a:solidFill>
              </a:defRPr>
            </a:pPr>
            <a:r>
              <a:t>Data &amp; analytical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76F2E"/>
                </a:solidFill>
              </a:defRPr>
            </a:pPr>
            <a:r>
              <a:t>HOW THE REQUIREMENTS WERE IMPLEMENTED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67085"/>
                </a:solidFill>
              </a:defRPr>
            </a:pPr>
            <a:r>
              <a:t>PIZZA SALES ANALYSIS  •  2015</a:t>
            </a:r>
          </a:p>
          <a:p>
            <a:pPr>
              <a:defRPr sz="750">
                <a:solidFill>
                  <a:srgbClr val="667085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76F2E"/>
                </a:solidFill>
              </a:defRPr>
            </a:pPr>
            <a:r>
              <a:t>SOURCE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62E"/>
                </a:solidFill>
              </a:defRPr>
            </a:pPr>
            <a:r>
              <a:t>• 48,620 order-line records</a:t>
            </a:r>
          </a:p>
          <a:p>
            <a:pPr>
              <a:spcAft>
                <a:spcPts val="800"/>
              </a:spcAft>
              <a:defRPr sz="1400">
                <a:solidFill>
                  <a:srgbClr val="20262E"/>
                </a:solidFill>
              </a:defRPr>
            </a:pPr>
            <a:r>
              <a:t>• 2015-01-01 to 2015-12-31</a:t>
            </a:r>
          </a:p>
          <a:p>
            <a:pPr>
              <a:spcAft>
                <a:spcPts val="800"/>
              </a:spcAft>
              <a:defRPr sz="1400">
                <a:solidFill>
                  <a:srgbClr val="20262E"/>
                </a:solidFill>
              </a:defRPr>
            </a:pPr>
            <a:r>
              <a:t>• 12 fields including order, date/time, price, size, category and pizza name</a:t>
            </a:r>
          </a:p>
          <a:p>
            <a:pPr>
              <a:spcAft>
                <a:spcPts val="800"/>
              </a:spcAft>
              <a:defRPr sz="1400">
                <a:solidFill>
                  <a:srgbClr val="20262E"/>
                </a:solidFill>
              </a:defRPr>
            </a:pPr>
            <a:r>
              <a:t>• 32 distinct pizza varieties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234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76F2E"/>
                </a:solidFill>
              </a:defRPr>
            </a:pPr>
            <a:r>
              <a:t>CALCULATION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60020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62E"/>
                </a:solidFill>
              </a:defRPr>
            </a:pPr>
            <a:r>
              <a:t>• Revenue = SUM(total_price)</a:t>
            </a:r>
          </a:p>
          <a:p>
            <a:pPr>
              <a:spcAft>
                <a:spcPts val="800"/>
              </a:spcAft>
              <a:defRPr sz="1400">
                <a:solidFill>
                  <a:srgbClr val="20262E"/>
                </a:solidFill>
              </a:defRPr>
            </a:pPr>
            <a:r>
              <a:t>• Orders = DISTINCTCOUNT(order_id)</a:t>
            </a:r>
          </a:p>
          <a:p>
            <a:pPr>
              <a:spcAft>
                <a:spcPts val="800"/>
              </a:spcAft>
              <a:defRPr sz="1400">
                <a:solidFill>
                  <a:srgbClr val="20262E"/>
                </a:solidFill>
              </a:defRPr>
            </a:pPr>
            <a:r>
              <a:t>• Quantity = SUM(quantity)</a:t>
            </a:r>
          </a:p>
          <a:p>
            <a:pPr>
              <a:spcAft>
                <a:spcPts val="800"/>
              </a:spcAft>
              <a:defRPr sz="1400">
                <a:solidFill>
                  <a:srgbClr val="20262E"/>
                </a:solidFill>
              </a:defRPr>
            </a:pPr>
            <a:r>
              <a:t>• AOV = Revenue ÷ Orders</a:t>
            </a:r>
          </a:p>
          <a:p>
            <a:pPr>
              <a:spcAft>
                <a:spcPts val="800"/>
              </a:spcAft>
              <a:defRPr sz="1400">
                <a:solidFill>
                  <a:srgbClr val="20262E"/>
                </a:solidFill>
              </a:defRPr>
            </a:pPr>
            <a:r>
              <a:t>• Average pizzas/order = Quantity ÷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76F2E"/>
                </a:solidFill>
              </a:defRPr>
            </a:pPr>
            <a:r>
              <a:t>QUALITY / 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2628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0262E"/>
                </a:solidFill>
              </a:defRPr>
            </a:pPr>
            <a:r>
              <a:t>The workbook supports descriptive sales analysis. It does not contain cost, margin, discount, customer, or marketing fields, so the findings describe sales performance rather than profitability or causal drivers.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E76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238"/>
                </a:solidFill>
              </a:defRPr>
            </a:pPr>
            <a:r>
              <a:t>Order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76F2E"/>
                </a:solidFill>
              </a:defRPr>
            </a:pPr>
            <a:r>
              <a:t>DAILY / WEEKDAY AND MONTHLY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67085"/>
                </a:solidFill>
              </a:defRPr>
            </a:pPr>
            <a:r>
              <a:t>PIZZA SALES ANALYSIS  •  2015</a:t>
            </a:r>
          </a:p>
          <a:p>
            <a:pPr>
              <a:defRPr sz="750">
                <a:solidFill>
                  <a:srgbClr val="667085"/>
                </a:solidFill>
              </a:defRPr>
            </a:pPr>
            <a:r>
              <a:t>6</a:t>
            </a:r>
          </a:p>
        </p:txBody>
      </p:sp>
      <p:pic>
        <p:nvPicPr>
          <p:cNvPr id="7" name="Picture 6" descr="01_weekday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486400" cy="3291840"/>
          </a:xfrm>
          <a:prstGeom prst="rect">
            <a:avLst/>
          </a:prstGeom>
        </p:spPr>
      </p:pic>
      <p:pic>
        <p:nvPicPr>
          <p:cNvPr id="8" name="Picture 7" descr="02_monthly_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5257800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8006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0262E"/>
                </a:solidFill>
              </a:defRPr>
            </a:pPr>
            <a:r>
              <a:t>Friday is the busiest weekday with 3,538 orders; Sunday is the quietest with 2,624.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8006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0262E"/>
                </a:solidFill>
              </a:defRPr>
            </a:pPr>
            <a:r>
              <a:t>July is the strongest month by order volume (1,935 orders), while October is the lowest (1,646).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E76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238"/>
                </a:solidFill>
              </a:defRPr>
            </a:pPr>
            <a:r>
              <a:t>Sales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76F2E"/>
                </a:solidFill>
              </a:defRPr>
            </a:pPr>
            <a:r>
              <a:t>REVENUE CONTRIBUTION BY CATEGORY AND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67085"/>
                </a:solidFill>
              </a:defRPr>
            </a:pPr>
            <a:r>
              <a:t>PIZZA SALES ANALYSIS  •  2015</a:t>
            </a:r>
          </a:p>
          <a:p>
            <a:pPr>
              <a:defRPr sz="750">
                <a:solidFill>
                  <a:srgbClr val="667085"/>
                </a:solidFill>
              </a:defRPr>
            </a:pPr>
            <a:r>
              <a:t>7</a:t>
            </a:r>
          </a:p>
        </p:txBody>
      </p:sp>
      <p:pic>
        <p:nvPicPr>
          <p:cNvPr id="7" name="Picture 6" descr="03_category_sales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303520" cy="3474720"/>
          </a:xfrm>
          <a:prstGeom prst="rect">
            <a:avLst/>
          </a:prstGeom>
        </p:spPr>
      </p:pic>
      <p:pic>
        <p:nvPicPr>
          <p:cNvPr id="8" name="Picture 7" descr="04_size_sale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484632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0262E"/>
                </a:solidFill>
              </a:defRPr>
            </a:pPr>
            <a:r>
              <a:t>Classic leads category revenue at 26.9% (220,053). The four categories are relatively balanced.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84632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0262E"/>
                </a:solidFill>
              </a:defRPr>
            </a:pPr>
            <a:r>
              <a:t>Large pizzas dominate size revenue at 45.9%. XL + XXL together contribute only 1.8%.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E76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238"/>
                </a:solidFill>
              </a:defRPr>
            </a:pPr>
            <a:r>
              <a:t>Category volume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76F2E"/>
                </a:solidFill>
              </a:defRPr>
            </a:pPr>
            <a:r>
              <a:t>TOTAL PIZZAS SOLD BY PIZZA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67085"/>
                </a:solidFill>
              </a:defRPr>
            </a:pPr>
            <a:r>
              <a:t>PIZZA SALES ANALYSIS  •  2015</a:t>
            </a:r>
          </a:p>
          <a:p>
            <a:pPr>
              <a:defRPr sz="750">
                <a:solidFill>
                  <a:srgbClr val="667085"/>
                </a:solidFill>
              </a:defRPr>
            </a:pPr>
            <a:r>
              <a:t>8</a:t>
            </a:r>
          </a:p>
        </p:txBody>
      </p:sp>
      <p:pic>
        <p:nvPicPr>
          <p:cNvPr id="7" name="Picture 6" descr="05_category_quantity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40080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52360" y="1325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76F2E"/>
                </a:solidFill>
              </a:defRPr>
            </a:pPr>
            <a:r>
              <a:t>Volume ranking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73736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62E"/>
                </a:solidFill>
              </a:defRPr>
            </a:pPr>
            <a:r>
              <a:t>• Classic: 14,888</a:t>
            </a:r>
          </a:p>
          <a:p>
            <a:pPr>
              <a:spcAft>
                <a:spcPts val="800"/>
              </a:spcAft>
              <a:defRPr sz="1300">
                <a:solidFill>
                  <a:srgbClr val="20262E"/>
                </a:solidFill>
              </a:defRPr>
            </a:pPr>
            <a:r>
              <a:t>• Supreme: 11,987</a:t>
            </a:r>
          </a:p>
          <a:p>
            <a:pPr>
              <a:spcAft>
                <a:spcPts val="800"/>
              </a:spcAft>
              <a:defRPr sz="1300">
                <a:solidFill>
                  <a:srgbClr val="20262E"/>
                </a:solidFill>
              </a:defRPr>
            </a:pPr>
            <a:r>
              <a:t>• Veggie: 11,649</a:t>
            </a:r>
          </a:p>
          <a:p>
            <a:pPr>
              <a:spcAft>
                <a:spcPts val="800"/>
              </a:spcAft>
              <a:defRPr sz="1300">
                <a:solidFill>
                  <a:srgbClr val="20262E"/>
                </a:solidFill>
              </a:defRPr>
            </a:pPr>
            <a:r>
              <a:t>• Chicken: 11,050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76F2E"/>
                </a:solidFill>
              </a:defRPr>
            </a:pPr>
            <a: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45262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62E"/>
                </a:solidFill>
              </a:defRPr>
            </a:pPr>
            <a:r>
              <a:t>Classic has the highest pizza volume, while Chicken has the lowest among the four categories. The gap is meaningful but not extreme, indicating a diversified category mix.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E76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238"/>
                </a:solidFill>
              </a:defRPr>
            </a:pPr>
            <a:r>
              <a:t>Top 5 best sellers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76F2E"/>
                </a:solidFill>
              </a:defRPr>
            </a:pPr>
            <a:r>
              <a:t>REQUIRED RANKING BY REVENUE, QUANTITY AND TOTAL 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67085"/>
                </a:solidFill>
              </a:defRPr>
            </a:pPr>
            <a:r>
              <a:t>PIZZA SALES ANALYSIS  •  2015</a:t>
            </a:r>
          </a:p>
          <a:p>
            <a:pPr>
              <a:defRPr sz="750">
                <a:solidFill>
                  <a:srgbClr val="667085"/>
                </a:solidFill>
              </a:defRPr>
            </a:pPr>
            <a:r>
              <a:t>9</a:t>
            </a:r>
          </a:p>
        </p:txBody>
      </p:sp>
      <p:pic>
        <p:nvPicPr>
          <p:cNvPr id="7" name="Picture 6" descr="06_top5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3703320" cy="3337560"/>
          </a:xfrm>
          <a:prstGeom prst="rect">
            <a:avLst/>
          </a:prstGeom>
        </p:spPr>
      </p:pic>
      <p:pic>
        <p:nvPicPr>
          <p:cNvPr id="8" name="Picture 7" descr="07_top5_quant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188720"/>
            <a:ext cx="3703320" cy="3337560"/>
          </a:xfrm>
          <a:prstGeom prst="rect">
            <a:avLst/>
          </a:prstGeom>
        </p:spPr>
      </p:pic>
      <p:pic>
        <p:nvPicPr>
          <p:cNvPr id="9" name="Picture 8" descr="08_top5_ord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188720"/>
            <a:ext cx="3703320" cy="3337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48920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0262E"/>
                </a:solidFill>
              </a:defRPr>
            </a:pPr>
            <a:r>
              <a:t>Top revenue: Thai Chicken (43,434)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8920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0262E"/>
                </a:solidFill>
              </a:defRPr>
            </a:pPr>
            <a:r>
              <a:t>Top quantity: Classic Deluxe (2,453)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8920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0262E"/>
                </a:solidFill>
              </a:defRPr>
            </a:pPr>
            <a:r>
              <a:t>Top orders: Classic Deluxe (2,329)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E76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238"/>
                </a:solidFill>
              </a:defRPr>
            </a:pPr>
            <a:r>
              <a:t>Bottom 5 performers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76F2E"/>
                </a:solidFill>
              </a:defRPr>
            </a:pPr>
            <a:r>
              <a:t>REQUIRED RANKING BY REVENUE, QUANTITY AND TOTAL 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67085"/>
                </a:solidFill>
              </a:defRPr>
            </a:pPr>
            <a:r>
              <a:t>PIZZA SALES ANALYSIS  •  2015</a:t>
            </a:r>
          </a:p>
          <a:p>
            <a:pPr>
              <a:defRPr sz="750">
                <a:solidFill>
                  <a:srgbClr val="667085"/>
                </a:solidFill>
              </a:defRPr>
            </a:pPr>
            <a:r>
              <a:t>10</a:t>
            </a:r>
          </a:p>
        </p:txBody>
      </p:sp>
      <p:pic>
        <p:nvPicPr>
          <p:cNvPr id="7" name="Picture 6" descr="09_bottom5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3703320" cy="3337560"/>
          </a:xfrm>
          <a:prstGeom prst="rect">
            <a:avLst/>
          </a:prstGeom>
        </p:spPr>
      </p:pic>
      <p:pic>
        <p:nvPicPr>
          <p:cNvPr id="8" name="Picture 7" descr="10_bottom5_quant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188720"/>
            <a:ext cx="3703320" cy="3337560"/>
          </a:xfrm>
          <a:prstGeom prst="rect">
            <a:avLst/>
          </a:prstGeom>
        </p:spPr>
      </p:pic>
      <p:pic>
        <p:nvPicPr>
          <p:cNvPr id="9" name="Picture 8" descr="11_bottom5_ord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188720"/>
            <a:ext cx="3703320" cy="3337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48920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0262E"/>
                </a:solidFill>
              </a:defRPr>
            </a:pPr>
            <a:r>
              <a:t>Lowest revenue: Brie Carre (11,588)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8920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0262E"/>
                </a:solidFill>
              </a:defRPr>
            </a:pPr>
            <a:r>
              <a:t>Lowest quantity: Brie Carre (490)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8920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0262E"/>
                </a:solidFill>
              </a:defRPr>
            </a:pPr>
            <a:r>
              <a:t>Lowest orders: Brie Carre (480)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E76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238"/>
                </a:solidFill>
              </a:defRPr>
            </a:pPr>
            <a:r>
              <a:t>Executive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76F2E"/>
                </a:solidFill>
              </a:defRPr>
            </a:pPr>
            <a:r>
              <a:t>WHAT THE ANALYSIS SAYS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67085"/>
                </a:solidFill>
              </a:defRPr>
            </a:pPr>
            <a:r>
              <a:t>PIZZA SALES ANALYSIS  •  2015</a:t>
            </a:r>
          </a:p>
          <a:p>
            <a:pPr>
              <a:defRPr sz="750">
                <a:solidFill>
                  <a:srgbClr val="667085"/>
                </a:solidFill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62E"/>
                </a:solidFill>
              </a:defRPr>
            </a:pPr>
            <a:r>
              <a:t>• Revenue reached 817,860.05 across 21,350 distinct orders, with an average order value of 38.31.</a:t>
            </a:r>
          </a:p>
          <a:p>
            <a:pPr>
              <a:spcAft>
                <a:spcPts val="800"/>
              </a:spcAft>
              <a:defRPr sz="1500">
                <a:solidFill>
                  <a:srgbClr val="20262E"/>
                </a:solidFill>
              </a:defRPr>
            </a:pPr>
            <a:r>
              <a:t>• Friday is the busiest weekday, indicating a practical opportunity for staffing and preparation planning.</a:t>
            </a:r>
          </a:p>
          <a:p>
            <a:pPr>
              <a:spcAft>
                <a:spcPts val="800"/>
              </a:spcAft>
              <a:defRPr sz="1500">
                <a:solidFill>
                  <a:srgbClr val="20262E"/>
                </a:solidFill>
              </a:defRPr>
            </a:pPr>
            <a:r>
              <a:t>• July leads order volume, while September–October show the weakest monthly order counts.</a:t>
            </a:r>
          </a:p>
          <a:p>
            <a:pPr>
              <a:spcAft>
                <a:spcPts val="800"/>
              </a:spcAft>
              <a:defRPr sz="1500">
                <a:solidFill>
                  <a:srgbClr val="20262E"/>
                </a:solidFill>
              </a:defRPr>
            </a:pPr>
            <a:r>
              <a:t>• Classic is the largest revenue category (26.9%), but category revenue is broadly distributed across four categories.</a:t>
            </a:r>
          </a:p>
          <a:p>
            <a:pPr>
              <a:spcAft>
                <a:spcPts val="800"/>
              </a:spcAft>
              <a:defRPr sz="1500">
                <a:solidFill>
                  <a:srgbClr val="20262E"/>
                </a:solidFill>
              </a:defRPr>
            </a:pPr>
            <a:r>
              <a:t>• Large pizzas generate 45.9% of revenue, making size mix an important inventory and pricing consideration.</a:t>
            </a:r>
          </a:p>
          <a:p>
            <a:pPr>
              <a:spcAft>
                <a:spcPts val="800"/>
              </a:spcAft>
              <a:defRPr sz="1500">
                <a:solidFill>
                  <a:srgbClr val="20262E"/>
                </a:solidFill>
              </a:defRPr>
            </a:pPr>
            <a:r>
              <a:t>• Thai Chicken leads revenue; Classic Deluxe leads quantity and distinct orders, showing that 'best seller' depends on the metric.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E76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238"/>
                </a:solidFill>
              </a:defRPr>
            </a:pPr>
            <a:r>
              <a:t>Business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76F2E"/>
                </a:solidFill>
              </a:defRPr>
            </a:pPr>
            <a:r>
              <a:t>TURNING DESCRIPTIVE ANALYSIS INTO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67085"/>
                </a:solidFill>
              </a:defRPr>
            </a:pPr>
            <a:r>
              <a:t>PIZZA SALES ANALYSIS  •  2015</a:t>
            </a:r>
          </a:p>
          <a:p>
            <a:pPr>
              <a:defRPr sz="750">
                <a:solidFill>
                  <a:srgbClr val="667085"/>
                </a:solidFill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76F2E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234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238"/>
                </a:solidFill>
              </a:defRPr>
            </a:pPr>
            <a:r>
              <a:t>Plan for Friday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234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0262E"/>
                </a:solidFill>
              </a:defRPr>
            </a:pPr>
            <a:r>
              <a:t>Use weekday order patterns as a staffing and prep baseline; validate with hourly data before changing schedules.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76F2E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1031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238"/>
                </a:solidFill>
              </a:defRPr>
            </a:pPr>
            <a:r>
              <a:t>Investigate July vs. Sep–Oct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1031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0262E"/>
                </a:solidFill>
              </a:defRPr>
            </a:pPr>
            <a:r>
              <a:t>Compare promotions, holidays, campaigns and operational factors to determine whether the pattern repeats.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76F2E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718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238"/>
                </a:solidFill>
              </a:defRPr>
            </a:pPr>
            <a:r>
              <a:t>Protect high-performing 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971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0262E"/>
                </a:solidFill>
              </a:defRPr>
            </a:pPr>
            <a:r>
              <a:t>Monitor availability of Thai Chicken, Barbecue Chicken, California Chicken and other high-revenue items.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40479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76F2E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84047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238"/>
                </a:solidFill>
              </a:defRPr>
            </a:pPr>
            <a:r>
              <a:t>Review low performers carefully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840479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0262E"/>
                </a:solidFill>
              </a:defRPr>
            </a:pPr>
            <a:r>
              <a:t>Evaluate Brie Carre, Green Garden and other low performers using margin, food cost and customer feedback—not revenue alone.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091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76F2E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7091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238"/>
                </a:solidFill>
              </a:defRPr>
            </a:pPr>
            <a:r>
              <a:t>Use size mix for planning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7091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0262E"/>
                </a:solidFill>
              </a:defRPr>
            </a:pPr>
            <a:r>
              <a:t>Large pizzas dominate revenue; align ingredient purchasing and capacity planning accordingly.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E76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238"/>
                </a:solidFill>
              </a:defRPr>
            </a:pPr>
            <a:r>
              <a:t>Limitations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76F2E"/>
                </a:solidFill>
              </a:defRPr>
            </a:pPr>
            <a:r>
              <a:t>WHAT THIS DATASET CANNOT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67085"/>
                </a:solidFill>
              </a:defRPr>
            </a:pPr>
            <a:r>
              <a:t>PIZZA SALES ANALYSIS  •  2015</a:t>
            </a:r>
          </a:p>
          <a:p>
            <a:pPr>
              <a:defRPr sz="750">
                <a:solidFill>
                  <a:srgbClr val="667085"/>
                </a:solidFill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76F2E"/>
                </a:solidFill>
              </a:defRPr>
            </a:pPr>
            <a: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62E"/>
                </a:solidFill>
              </a:defRPr>
            </a:pPr>
            <a:r>
              <a:t>• One calendar year: recurring seasonality is not proven.</a:t>
            </a:r>
          </a:p>
          <a:p>
            <a:pPr>
              <a:spcAft>
                <a:spcPts val="800"/>
              </a:spcAft>
              <a:defRPr sz="1400">
                <a:solidFill>
                  <a:srgbClr val="20262E"/>
                </a:solidFill>
              </a:defRPr>
            </a:pPr>
            <a:r>
              <a:t>• No ingredient cost, labor cost or discount data: profitability cannot be calculated.</a:t>
            </a:r>
          </a:p>
          <a:p>
            <a:pPr>
              <a:spcAft>
                <a:spcPts val="800"/>
              </a:spcAft>
              <a:defRPr sz="1400">
                <a:solidFill>
                  <a:srgbClr val="20262E"/>
                </a:solidFill>
              </a:defRPr>
            </a:pPr>
            <a:r>
              <a:t>• No customer identifier: retention and customer-level behavior cannot be measured.</a:t>
            </a:r>
          </a:p>
          <a:p>
            <a:pPr>
              <a:spcAft>
                <a:spcPts val="800"/>
              </a:spcAft>
              <a:defRPr sz="1400">
                <a:solidFill>
                  <a:srgbClr val="20262E"/>
                </a:solidFill>
              </a:defRPr>
            </a:pPr>
            <a:r>
              <a:t>• No marketing/campaign fields: causes of peaks and dips cannot be established.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76F2E"/>
                </a:solidFill>
              </a:defRPr>
            </a:pPr>
            <a:r>
              <a:t>NEXT ANALYTICAL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62E"/>
                </a:solidFill>
              </a:defRPr>
            </a:pPr>
            <a:r>
              <a:t>• Add hourly order trends.</a:t>
            </a:r>
          </a:p>
          <a:p>
            <a:pPr>
              <a:spcAft>
                <a:spcPts val="800"/>
              </a:spcAft>
              <a:defRPr sz="1400">
                <a:solidFill>
                  <a:srgbClr val="20262E"/>
                </a:solidFill>
              </a:defRPr>
            </a:pPr>
            <a:r>
              <a:t>• Add gross margin / contribution margin.</a:t>
            </a:r>
          </a:p>
          <a:p>
            <a:pPr>
              <a:spcAft>
                <a:spcPts val="800"/>
              </a:spcAft>
              <a:defRPr sz="1400">
                <a:solidFill>
                  <a:srgbClr val="20262E"/>
                </a:solidFill>
              </a:defRPr>
            </a:pPr>
            <a:r>
              <a:t>• Analyze promotions and campaign periods.</a:t>
            </a:r>
          </a:p>
          <a:p>
            <a:pPr>
              <a:spcAft>
                <a:spcPts val="800"/>
              </a:spcAft>
              <a:defRPr sz="1400">
                <a:solidFill>
                  <a:srgbClr val="20262E"/>
                </a:solidFill>
              </a:defRPr>
            </a:pPr>
            <a:r>
              <a:t>• Compare multiple years for seasonality.</a:t>
            </a:r>
          </a:p>
          <a:p>
            <a:pPr>
              <a:spcAft>
                <a:spcPts val="800"/>
              </a:spcAft>
              <a:defRPr sz="1400">
                <a:solidFill>
                  <a:srgbClr val="20262E"/>
                </a:solidFill>
              </a:defRPr>
            </a:pPr>
            <a:r>
              <a:t>• Build a profitability-aware menu matrix.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76F2E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Pizza sales are strong and diversified,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9E0EA"/>
                </a:solidFill>
              </a:defRPr>
            </a:pPr>
            <a:r>
              <a:t>with clear opportunities in demand planning, product focus and deeper profitability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817,860 revenue  •  21,350 orders  •  49,574 pizzas  •  38.31 AOV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EB9C8"/>
                </a:solidFill>
              </a:defRPr>
            </a:pPr>
            <a:r>
              <a:t>The required KPI and chart framework has been implemented from the supplied problem statement and source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1111</Words>
  <Application>Microsoft Office PowerPoint</Application>
  <PresentationFormat>Widescreen</PresentationFormat>
  <Paragraphs>175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Lakshmi Reddy</cp:lastModifiedBy>
  <cp:revision>2</cp:revision>
  <dcterms:created xsi:type="dcterms:W3CDTF">2013-01-27T09:14:16Z</dcterms:created>
  <dcterms:modified xsi:type="dcterms:W3CDTF">2026-10-06T06:09:06Z</dcterms:modified>
  <cp:category/>
</cp:coreProperties>
</file>